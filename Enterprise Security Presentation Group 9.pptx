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7" autoAdjust="0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48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393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263"/>
          </a:solidFill>
          <a:ln w="12700">
            <a:solidFill>
              <a:srgbClr val="4A926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2487168"/>
            <a:ext cx="299923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</a:t>
            </a:r>
            <a:endParaRPr lang="en-US" sz="2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</a:t>
            </a:r>
            <a:endParaRPr lang="en-US" sz="2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749040" y="9144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Report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749040" y="1755648"/>
            <a:ext cx="5120640" cy="36576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49040" y="19202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Department Building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Mines and Technology (UMaT)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749040" y="3017520"/>
            <a:ext cx="1005840" cy="292608"/>
          </a:xfrm>
          <a:prstGeom prst="rect">
            <a:avLst/>
          </a:prstGeom>
          <a:solidFill>
            <a:srgbClr val="4A9263"/>
          </a:solidFill>
          <a:ln w="12700">
            <a:solidFill>
              <a:srgbClr val="4A926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49040" y="3017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828032" y="3017520"/>
            <a:ext cx="4041648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Perimeter Security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49040" y="3474720"/>
            <a:ext cx="1005840" cy="292608"/>
          </a:xfrm>
          <a:prstGeom prst="rect">
            <a:avLst/>
          </a:prstGeom>
          <a:solidFill>
            <a:srgbClr val="4A9263"/>
          </a:solidFill>
          <a:ln w="12700">
            <a:solidFill>
              <a:srgbClr val="4A926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49040" y="3474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28032" y="3474720"/>
            <a:ext cx="4041648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9-Member Security Analysis Group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749040" y="3931920"/>
            <a:ext cx="1005840" cy="292608"/>
          </a:xfrm>
          <a:prstGeom prst="rect">
            <a:avLst/>
          </a:prstGeom>
          <a:solidFill>
            <a:srgbClr val="4A9263"/>
          </a:solidFill>
          <a:ln w="12700">
            <a:solidFill>
              <a:srgbClr val="4A926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49040" y="39319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28032" y="3931920"/>
            <a:ext cx="4041648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2025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CONFIDENTIAL;  FOR ACADEMIC USE ONLY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2B2635E-448E-43AC-8145-5C045C394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18" y="308971"/>
            <a:ext cx="1822956" cy="21267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1206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slides across 6 security domains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298448"/>
            <a:ext cx="267004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98448"/>
            <a:ext cx="54864" cy="1389888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81328"/>
            <a:ext cx="502920" cy="502920"/>
          </a:xfrm>
          <a:prstGeom prst="line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1522476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1463040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Perimeter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70432" y="1792224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3–4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212848"/>
            <a:ext cx="2340864" cy="36576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64408" y="1298448"/>
            <a:ext cx="267004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64408" y="1298448"/>
            <a:ext cx="54864" cy="138988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29000" y="1481328"/>
            <a:ext cx="502920" cy="502920"/>
          </a:xfrm>
          <a:prstGeom prst="lin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0148" y="1522476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50792" y="1463040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050792" y="1792224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5–6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429000" y="2212848"/>
            <a:ext cx="2340864" cy="3657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44768" y="1298448"/>
            <a:ext cx="267004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44768" y="1298448"/>
            <a:ext cx="54864" cy="1389888"/>
          </a:xfrm>
          <a:prstGeom prst="rect">
            <a:avLst/>
          </a:prstGeom>
          <a:solidFill>
            <a:srgbClr val="4A9263"/>
          </a:solidFill>
          <a:ln w="12700">
            <a:solidFill>
              <a:srgbClr val="4A926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9360" y="1481328"/>
            <a:ext cx="502920" cy="502920"/>
          </a:xfrm>
          <a:prstGeom prst="line">
            <a:avLst/>
          </a:prstGeom>
          <a:solidFill>
            <a:srgbClr val="4A9263"/>
          </a:solidFill>
          <a:ln w="12700">
            <a:solidFill>
              <a:srgbClr val="4A9263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508" y="1522476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31152" y="1463040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931152" y="1792224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7–8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309360" y="2212848"/>
            <a:ext cx="2340864" cy="36576"/>
          </a:xfrm>
          <a:prstGeom prst="rect">
            <a:avLst/>
          </a:prstGeom>
          <a:solidFill>
            <a:srgbClr val="4A9263"/>
          </a:solidFill>
          <a:ln w="12700">
            <a:solidFill>
              <a:srgbClr val="4A926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84048" y="2871216"/>
            <a:ext cx="267004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84048" y="2871216"/>
            <a:ext cx="54864" cy="1389888"/>
          </a:xfrm>
          <a:prstGeom prst="rect">
            <a:avLst/>
          </a:prstGeom>
          <a:solidFill>
            <a:srgbClr val="4A8DB5"/>
          </a:solidFill>
          <a:ln w="12700">
            <a:solidFill>
              <a:srgbClr val="4A8DB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48640" y="3054096"/>
            <a:ext cx="502920" cy="502920"/>
          </a:xfrm>
          <a:prstGeom prst="line">
            <a:avLst/>
          </a:prstGeom>
          <a:solidFill>
            <a:srgbClr val="4A8DB5"/>
          </a:solidFill>
          <a:ln w="12700">
            <a:solidFill>
              <a:srgbClr val="4A8DB5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" y="3095244"/>
            <a:ext cx="420624" cy="42062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70432" y="303580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Security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170432" y="336499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9–14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48640" y="3785616"/>
            <a:ext cx="2340864" cy="36576"/>
          </a:xfrm>
          <a:prstGeom prst="rect">
            <a:avLst/>
          </a:prstGeom>
          <a:solidFill>
            <a:srgbClr val="4A8DB5"/>
          </a:solidFill>
          <a:ln w="12700">
            <a:solidFill>
              <a:srgbClr val="4A8DB5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264408" y="2871216"/>
            <a:ext cx="267004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264408" y="2871216"/>
            <a:ext cx="54864" cy="1389888"/>
          </a:xfrm>
          <a:prstGeom prst="rect">
            <a:avLst/>
          </a:prstGeom>
          <a:solidFill>
            <a:srgbClr val="7B4FA0"/>
          </a:solidFill>
          <a:ln w="12700">
            <a:solidFill>
              <a:srgbClr val="7B4FA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429000" y="3054096"/>
            <a:ext cx="502920" cy="502920"/>
          </a:xfrm>
          <a:prstGeom prst="line">
            <a:avLst/>
          </a:prstGeom>
          <a:solidFill>
            <a:srgbClr val="7B4FA0"/>
          </a:solidFill>
          <a:ln w="12700">
            <a:solidFill>
              <a:srgbClr val="7B4FA0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0148" y="3095244"/>
            <a:ext cx="420624" cy="42062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050792" y="303580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Factors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4050792" y="336499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15–16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3429000" y="3785616"/>
            <a:ext cx="2340864" cy="36576"/>
          </a:xfrm>
          <a:prstGeom prst="rect">
            <a:avLst/>
          </a:prstGeom>
          <a:solidFill>
            <a:srgbClr val="7B4FA0"/>
          </a:solidFill>
          <a:ln w="12700">
            <a:solidFill>
              <a:srgbClr val="7B4FA0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144768" y="2871216"/>
            <a:ext cx="267004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144768" y="2871216"/>
            <a:ext cx="54864" cy="1389888"/>
          </a:xfrm>
          <a:prstGeom prst="rect">
            <a:avLst/>
          </a:prstGeom>
          <a:solidFill>
            <a:srgbClr val="1F3A6B"/>
          </a:solidFill>
          <a:ln w="12700">
            <a:solidFill>
              <a:srgbClr val="1F3A6B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6309360" y="3054096"/>
            <a:ext cx="502920" cy="502920"/>
          </a:xfrm>
          <a:prstGeom prst="line">
            <a:avLst/>
          </a:prstGeom>
          <a:solidFill>
            <a:srgbClr val="1F3A6B"/>
          </a:solidFill>
          <a:ln w="12700">
            <a:solidFill>
              <a:srgbClr val="1F3A6B"/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0508" y="3095244"/>
            <a:ext cx="420624" cy="42062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931152" y="303580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6931152" y="336499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17–20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6309360" y="3785616"/>
            <a:ext cx="2340864" cy="36576"/>
          </a:xfrm>
          <a:prstGeom prst="rect">
            <a:avLst/>
          </a:prstGeom>
          <a:solidFill>
            <a:srgbClr val="1F3A6B"/>
          </a:solidFill>
          <a:ln w="12700">
            <a:solidFill>
              <a:srgbClr val="1F3A6B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Perimeter Security Analysis  |  UMaT ACSES Department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3566160" cy="256032"/>
          </a:xfrm>
          <a:prstGeom prst="rect">
            <a:avLst/>
          </a:prstGeom>
          <a:solidFill>
            <a:srgbClr val="4A9263"/>
          </a:solidFill>
          <a:ln w="12700">
            <a:solidFill>
              <a:srgbClr val="4A92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PERIMETER;  BUILDING LAYOUT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ACSES Department Building;  Site Survey</a:t>
            </a:r>
            <a:endParaRPr lang="en-US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78992"/>
            <a:ext cx="2148840" cy="1737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2542032"/>
            <a:ext cx="2148840" cy="2743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4904" y="254203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facade (car park view)</a:t>
            </a: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06040" y="1078992"/>
            <a:ext cx="2148840" cy="17373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606040" y="2542032"/>
            <a:ext cx="2148840" cy="2743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660904" y="254203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angle;  Computer Sci. &amp; Eng. Dept. sign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0040" y="2980944"/>
            <a:ext cx="2148840" cy="17373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20040" y="4443984"/>
            <a:ext cx="2148840" cy="2743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74904" y="4443984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approach &amp; stairwell access</a:t>
            </a:r>
            <a:endParaRPr lang="en-US" sz="8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606040" y="2980944"/>
            <a:ext cx="2148840" cy="173736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606040" y="4443984"/>
            <a:ext cx="2148840" cy="2743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660904" y="4443984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First-floor corridor &amp; balcony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4919472" y="10789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ZONE CLASSIFICATION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919472" y="1335024"/>
            <a:ext cx="3931920" cy="1005840"/>
          </a:xfrm>
          <a:prstGeom prst="rect">
            <a:avLst/>
          </a:prstGeom>
          <a:solidFill>
            <a:srgbClr val="1A3D5C"/>
          </a:solidFill>
          <a:ln w="12700">
            <a:solidFill>
              <a:srgbClr val="4A8DB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919472" y="1335024"/>
            <a:ext cx="64008" cy="1005840"/>
          </a:xfrm>
          <a:prstGeom prst="rect">
            <a:avLst/>
          </a:prstGeom>
          <a:solidFill>
            <a:srgbClr val="4A8DB5"/>
          </a:solidFill>
          <a:ln w="12700">
            <a:solidFill>
              <a:srgbClr val="4A8DB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074920" y="1426464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A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ZONE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074920" y="1737360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entrance, hallways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all;  monitor only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919472" y="2542032"/>
            <a:ext cx="3931920" cy="1005840"/>
          </a:xfrm>
          <a:prstGeom prst="rect">
            <a:avLst/>
          </a:prstGeom>
          <a:solidFill>
            <a:srgbClr val="2C6E49"/>
          </a:solidFill>
          <a:ln w="12700">
            <a:solidFill>
              <a:srgbClr val="4A926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919472" y="2542032"/>
            <a:ext cx="64008" cy="1005840"/>
          </a:xfrm>
          <a:prstGeom prst="rect">
            <a:avLst/>
          </a:prstGeom>
          <a:solidFill>
            <a:srgbClr val="4A9263"/>
          </a:solidFill>
          <a:ln w="12700">
            <a:solidFill>
              <a:srgbClr val="4A9263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074920" y="2633472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A9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ZONE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074920" y="2944368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Labs, offices, IT support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staff &amp; students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919472" y="3749040"/>
            <a:ext cx="3931920" cy="1005840"/>
          </a:xfrm>
          <a:prstGeom prst="rect">
            <a:avLst/>
          </a:prstGeom>
          <a:solidFill>
            <a:srgbClr val="3A1F6E"/>
          </a:solidFill>
          <a:ln w="12700">
            <a:solidFill>
              <a:srgbClr val="9B6BE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919472" y="3749040"/>
            <a:ext cx="64008" cy="1005840"/>
          </a:xfrm>
          <a:prstGeom prst="rect">
            <a:avLst/>
          </a:prstGeom>
          <a:solidFill>
            <a:srgbClr val="9B6BE0"/>
          </a:solidFill>
          <a:ln w="12700">
            <a:solidFill>
              <a:srgbClr val="9B6BE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074920" y="3840480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B6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ZONE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074920" y="4151376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room, core network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personnel only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Perimeter Security Analysis  |  UMaT ACSES Department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3291840" cy="256032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PERIMETER;  ENTRY POINTS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Entry Points;  Site Photographs</a:t>
            </a:r>
            <a:endParaRPr lang="en-US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78992"/>
            <a:ext cx="2743200" cy="1920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2724912"/>
            <a:ext cx="2743200" cy="2743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4904" y="272491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floor;  open unmonitored entrance doors</a:t>
            </a: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0" y="1078992"/>
            <a:ext cx="2011680" cy="1920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00400" y="2724912"/>
            <a:ext cx="2011680" cy="2743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55264" y="272491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lab-to-office connecting door (no camera to see who enters and leave)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21808" y="1078992"/>
            <a:ext cx="4069080" cy="19202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321808" y="2724912"/>
            <a:ext cx="4069080" cy="2743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376672" y="272491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floor windows &amp; doors;  no biometric security locking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320040" y="3236976"/>
            <a:ext cx="16093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20040" y="3236976"/>
            <a:ext cx="1609344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20040" y="323697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374904" y="3419856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Entrance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057400" y="3236976"/>
            <a:ext cx="16093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057400" y="3236976"/>
            <a:ext cx="1609344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057400" y="323697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2112264" y="3419856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CL1 Corner Doors (×4)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794760" y="3236976"/>
            <a:ext cx="16093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87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794760" y="3236976"/>
            <a:ext cx="1609344" cy="164592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794760" y="323697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3849624" y="3419856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Lab-to-Office Door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532120" y="3236976"/>
            <a:ext cx="16093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87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532120" y="3236976"/>
            <a:ext cx="1609344" cy="164592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532120" y="323697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5586984" y="3419856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Floor Windows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7269480" y="3236976"/>
            <a:ext cx="16093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7269480" y="3236976"/>
            <a:ext cx="1609344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7269480" y="323697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7324344" y="3419856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Room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320040" y="3858768"/>
            <a:ext cx="8503920" cy="676656"/>
          </a:xfrm>
          <a:prstGeom prst="rect">
            <a:avLst/>
          </a:prstGeom>
          <a:solidFill>
            <a:srgbClr val="FEF3F0"/>
          </a:solidFill>
          <a:ln w="10160">
            <a:solidFill>
              <a:srgbClr val="C0392B"/>
            </a:solidFill>
            <a:prstDash val="solid"/>
          </a:ln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4005072"/>
            <a:ext cx="310896" cy="31089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822960" y="3858768"/>
            <a:ext cx="7909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entry points shown above operate without any electronic access control, keycard, biometric authentication, or audit trail. A standard door handle is the only barrier between an open corridor and the server room.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Perimeter Security Analysis  |  UMaT ACSES Department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3017520" cy="256032"/>
          </a:xfrm>
          <a:prstGeom prst="rect">
            <a:avLst/>
          </a:prstGeom>
          <a:solidFill>
            <a:srgbClr val="4A9263"/>
          </a:solidFill>
          <a:ln w="12700">
            <a:solidFill>
              <a:srgbClr val="4A92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CONTROL;  CURRENT STATE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Control Infrastructure Exists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804672"/>
          </a:xfrm>
          <a:prstGeom prst="rect">
            <a:avLst/>
          </a:prstGeom>
          <a:solidFill>
            <a:srgbClr val="2C6E49"/>
          </a:solidFill>
          <a:ln w="10160">
            <a:solidFill>
              <a:srgbClr val="4A926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43584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11556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2999232" y="1115568"/>
            <a:ext cx="5650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security controls of any kind operate in this building today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" y="2084832"/>
            <a:ext cx="2286000" cy="239572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0040" y="4206240"/>
            <a:ext cx="2286000" cy="2743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74904" y="42062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ground-floor doors;  no keycard, no lock, no monitoring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724912" y="2084832"/>
            <a:ext cx="2834640" cy="694944"/>
          </a:xfrm>
          <a:prstGeom prst="rect">
            <a:avLst/>
          </a:prstGeom>
          <a:solidFill>
            <a:srgbClr val="1E3D2A"/>
          </a:solidFill>
          <a:ln w="1016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24912" y="2084832"/>
            <a:ext cx="54864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889504" y="2121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 Guards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889504" y="23957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enters &amp; roams unchallenged;  no staffed front desk or patrol.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742432" y="2084832"/>
            <a:ext cx="2834640" cy="694944"/>
          </a:xfrm>
          <a:prstGeom prst="rect">
            <a:avLst/>
          </a:prstGeom>
          <a:solidFill>
            <a:srgbClr val="1E3D2A"/>
          </a:solidFill>
          <a:ln w="1016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742432" y="2084832"/>
            <a:ext cx="54864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07024" y="2121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CCTV Cameras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907024" y="23957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electronic monitoring, deterrence, or forensic recording capability.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724912" y="2889504"/>
            <a:ext cx="2834640" cy="694944"/>
          </a:xfrm>
          <a:prstGeom prst="rect">
            <a:avLst/>
          </a:prstGeom>
          <a:solidFill>
            <a:srgbClr val="1E3D2A"/>
          </a:solidFill>
          <a:ln w="1016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724912" y="2889504"/>
            <a:ext cx="54864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889504" y="2926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Keycard Access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2889504" y="3200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 are the only barrier. Many remain unlocked during operational hours.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5742432" y="2889504"/>
            <a:ext cx="2834640" cy="694944"/>
          </a:xfrm>
          <a:prstGeom prst="rect">
            <a:avLst/>
          </a:prstGeom>
          <a:solidFill>
            <a:srgbClr val="1E3D2A"/>
          </a:solidFill>
          <a:ln w="1016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742432" y="2889504"/>
            <a:ext cx="54864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907024" y="2926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Biometric Auth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907024" y="3200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room has no authentication;  only informal proximity to IT office.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2724912" y="3694176"/>
            <a:ext cx="2834640" cy="694944"/>
          </a:xfrm>
          <a:prstGeom prst="rect">
            <a:avLst/>
          </a:prstGeom>
          <a:solidFill>
            <a:srgbClr val="1E3D2A"/>
          </a:solidFill>
          <a:ln w="1016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2724912" y="3694176"/>
            <a:ext cx="54864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889504" y="3730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Visitor Registration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2889504" y="40050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who enters or when. Contractors arrive completely unlogged.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5742432" y="3694176"/>
            <a:ext cx="2834640" cy="694944"/>
          </a:xfrm>
          <a:prstGeom prst="rect">
            <a:avLst/>
          </a:prstGeom>
          <a:solidFill>
            <a:srgbClr val="1E3D2A"/>
          </a:solidFill>
          <a:ln w="1016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5742432" y="3694176"/>
            <a:ext cx="54864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907024" y="3730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Workstation Policies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5907024" y="40050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auto-lock policy. Unattended logged-in machines common in the lab.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Perimeter Security Analysis  |  UMaT ACSES Department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3474720" cy="256032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CONTROL;  PROPOSED SOLUTIONS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Zone-Appropriate Access Control Mechanisms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8503920" cy="1060704"/>
          </a:xfrm>
          <a:prstGeom prst="rect">
            <a:avLst/>
          </a:prstGeom>
          <a:solidFill>
            <a:srgbClr val="EEF5FC"/>
          </a:solidFill>
          <a:ln w="12700">
            <a:solidFill>
              <a:srgbClr val="4A8D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07008"/>
            <a:ext cx="64008" cy="1060704"/>
          </a:xfrm>
          <a:prstGeom prst="rect">
            <a:avLst/>
          </a:prstGeom>
          <a:solidFill>
            <a:srgbClr val="4A8DB5"/>
          </a:solidFill>
          <a:ln w="12700">
            <a:solidFill>
              <a:srgbClr val="4A8D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07008"/>
            <a:ext cx="2011680" cy="1060704"/>
          </a:xfrm>
          <a:prstGeom prst="rect">
            <a:avLst/>
          </a:prstGeom>
          <a:solidFill>
            <a:srgbClr val="4A8DB5">
              <a:alpha val="85000"/>
            </a:srgbClr>
          </a:solidFill>
          <a:ln w="12700">
            <a:solidFill>
              <a:srgbClr val="4A8D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07008"/>
            <a:ext cx="18836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ZONE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1298448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0" y="1280160"/>
            <a:ext cx="5925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Motion-activated lighting at all entrances</a:t>
            </a:r>
            <a:endParaRPr lang="en-US" sz="10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1536192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0" y="1517904"/>
            <a:ext cx="5925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signage for expected visitor flow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1773936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43200" y="1755648"/>
            <a:ext cx="5925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staffed front desk during operational hours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20040" y="2414016"/>
            <a:ext cx="8503920" cy="1060704"/>
          </a:xfrm>
          <a:prstGeom prst="rect">
            <a:avLst/>
          </a:prstGeom>
          <a:solidFill>
            <a:srgbClr val="EAF4EC"/>
          </a:solidFill>
          <a:ln w="12700">
            <a:solidFill>
              <a:srgbClr val="2C6E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20040" y="2414016"/>
            <a:ext cx="64008" cy="1060704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20040" y="2414016"/>
            <a:ext cx="2011680" cy="1060704"/>
          </a:xfrm>
          <a:prstGeom prst="rect">
            <a:avLst/>
          </a:prstGeom>
          <a:solidFill>
            <a:srgbClr val="2C6E49">
              <a:alpha val="85000"/>
            </a:srgbClr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84048" y="2414016"/>
            <a:ext cx="18836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ZONE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2505456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743200" y="2487168"/>
            <a:ext cx="5925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Keycard access on all lab &amp; office corner doors</a:t>
            </a:r>
            <a:endParaRPr lang="en-US" sz="10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2743200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743200" y="2724912"/>
            <a:ext cx="5925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locks with full audit trail &amp; time-based schedules</a:t>
            </a:r>
            <a:endParaRPr lang="en-US" sz="10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2980944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743200" y="2962656"/>
            <a:ext cx="5925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supervision required whenever external visitors are present</a:t>
            </a:r>
            <a:endParaRPr lang="en-US" sz="10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3218688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743200" y="3200400"/>
            <a:ext cx="5925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Auto-lock policy on all lab workstations (5-min inactivity)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320040" y="3621024"/>
            <a:ext cx="8503920" cy="1060704"/>
          </a:xfrm>
          <a:prstGeom prst="rect">
            <a:avLst/>
          </a:prstGeom>
          <a:solidFill>
            <a:srgbClr val="F2EEFF"/>
          </a:solidFill>
          <a:ln w="12700">
            <a:solidFill>
              <a:srgbClr val="7B4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320040" y="3621024"/>
            <a:ext cx="64008" cy="1060704"/>
          </a:xfrm>
          <a:prstGeom prst="rect">
            <a:avLst/>
          </a:prstGeom>
          <a:solidFill>
            <a:srgbClr val="7B4FA0"/>
          </a:solidFill>
          <a:ln w="12700">
            <a:solidFill>
              <a:srgbClr val="7B4FA0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320040" y="3621024"/>
            <a:ext cx="2011680" cy="1060704"/>
          </a:xfrm>
          <a:prstGeom prst="rect">
            <a:avLst/>
          </a:prstGeom>
          <a:solidFill>
            <a:srgbClr val="7B4FA0">
              <a:alpha val="85000"/>
            </a:srgbClr>
          </a:solidFill>
          <a:ln w="12700">
            <a:solidFill>
              <a:srgbClr val="7B4FA0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384048" y="3621024"/>
            <a:ext cx="188366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ZONE</a:t>
            </a:r>
            <a:endParaRPr lang="en-US" sz="12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3712464"/>
            <a:ext cx="182880" cy="18288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2743200" y="3694176"/>
            <a:ext cx="5925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authentication (fingerprint + PIN) for server room</a:t>
            </a:r>
            <a:endParaRPr lang="en-US" sz="105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3950208"/>
            <a:ext cx="182880" cy="18288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2743200" y="3931920"/>
            <a:ext cx="5925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access log for all entry events</a:t>
            </a:r>
            <a:endParaRPr lang="en-US" sz="105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4187952"/>
            <a:ext cx="182880" cy="18288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2743200" y="4169664"/>
            <a:ext cx="5925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alarm linked directly to IT security personnel</a:t>
            </a:r>
            <a:endParaRPr lang="en-US" sz="105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4425696"/>
            <a:ext cx="182880" cy="18288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2743200" y="4407408"/>
            <a:ext cx="5925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Named-personnel access list;  no generic IT credentials</a:t>
            </a:r>
            <a:endParaRPr lang="en-US" sz="1050" dirty="0"/>
          </a:p>
        </p:txBody>
      </p:sp>
      <p:sp>
        <p:nvSpPr>
          <p:cNvPr id="40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41" name="Text 28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Perimeter Security Analysis  |  UMaT ACSES Department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3200400" cy="256032"/>
          </a:xfrm>
          <a:prstGeom prst="rect">
            <a:avLst/>
          </a:prstGeom>
          <a:solidFill>
            <a:srgbClr val="4A9263"/>
          </a:solidFill>
          <a:ln w="12700">
            <a:solidFill>
              <a:srgbClr val="4A92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&amp; MONITORING;  CCTV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16-Camera CCTV Infrastructure Proposal</a:t>
            </a:r>
            <a:endParaRPr lang="en-US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15568"/>
            <a:ext cx="3291840" cy="2148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2990088"/>
            <a:ext cx="3291840" cy="27432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4904" y="299008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CCTV camera (top-left);  adjacent building only. ACSES building has none.</a:t>
            </a:r>
            <a:endParaRPr lang="en-US" sz="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" y="3346704"/>
            <a:ext cx="3291840" cy="11704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0040" y="4242816"/>
            <a:ext cx="3291840" cy="27432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74904" y="4242816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Overhang &amp; roof eaves;  potential camera mounting points and blind spots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822192" y="1115568"/>
            <a:ext cx="5001768" cy="329184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950208" y="11155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PLACEMENT STRATEGY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822192" y="1444752"/>
            <a:ext cx="5001768" cy="512064"/>
          </a:xfrm>
          <a:prstGeom prst="rect">
            <a:avLst/>
          </a:prstGeom>
          <a:solidFill>
            <a:srgbClr val="1E3D2A"/>
          </a:solidFill>
          <a:ln w="3810">
            <a:solidFill>
              <a:srgbClr val="2A4D3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931920" y="1444752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Building Entrance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980176" y="1444752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0800" y="1444752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Wide-angle;  captures all arriving &amp; departing individuals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822192" y="1956816"/>
            <a:ext cx="5001768" cy="512064"/>
          </a:xfrm>
          <a:prstGeom prst="rect">
            <a:avLst/>
          </a:prstGeom>
          <a:solidFill>
            <a:srgbClr val="172F20"/>
          </a:solidFill>
          <a:ln w="3810">
            <a:solidFill>
              <a:srgbClr val="2A4D3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931920" y="1956816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CL1 Corner Doors (×4)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980176" y="1956816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400800" y="1956816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corner;  single camera covers 2 doors simultaneously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822192" y="2468880"/>
            <a:ext cx="5001768" cy="512064"/>
          </a:xfrm>
          <a:prstGeom prst="rect">
            <a:avLst/>
          </a:prstGeom>
          <a:solidFill>
            <a:srgbClr val="1E3D2A"/>
          </a:solidFill>
          <a:ln w="3810">
            <a:solidFill>
              <a:srgbClr val="2A4D3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931920" y="2468880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Eng. Lab Doors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80176" y="2468880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400800" y="2468880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top-right Lab-to-Office Controlled/Restricted boundary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822192" y="2980944"/>
            <a:ext cx="5001768" cy="512064"/>
          </a:xfrm>
          <a:prstGeom prst="rect">
            <a:avLst/>
          </a:prstGeom>
          <a:solidFill>
            <a:srgbClr val="172F20"/>
          </a:solidFill>
          <a:ln w="3810">
            <a:solidFill>
              <a:srgbClr val="2A4D3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931920" y="2980944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Stairwells &amp; Corridors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980176" y="2980944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400800" y="2980944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Between-floor movement tracking; off-hours access detection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822192" y="3493008"/>
            <a:ext cx="5001768" cy="512064"/>
          </a:xfrm>
          <a:prstGeom prst="rect">
            <a:avLst/>
          </a:prstGeom>
          <a:solidFill>
            <a:srgbClr val="1E3D2A"/>
          </a:solidFill>
          <a:ln w="3810">
            <a:solidFill>
              <a:srgbClr val="2A4D3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931920" y="349300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Room Corridor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5980176" y="3493008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400800" y="3493008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Restricted Zone coverage with continuous recording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3822192" y="4041648"/>
            <a:ext cx="5001768" cy="475488"/>
          </a:xfrm>
          <a:prstGeom prst="rect">
            <a:avLst/>
          </a:prstGeom>
          <a:solidFill>
            <a:srgbClr val="2C6E49"/>
          </a:solidFill>
          <a:ln w="10160">
            <a:solidFill>
              <a:srgbClr val="4A926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913632" y="4041648"/>
            <a:ext cx="4809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cameras  ·  8 per floor  ·  4 corner doors covered per room  ·  0 cameras currently deployed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Perimeter Security Analysis  |  UMaT ACSES Department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3383280" cy="256032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SURVEILLANCE;  LIGHTING ASSESSMENT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Lighting Failure: A CCTV Prerequisite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670048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2670048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0160"/>
            <a:ext cx="1389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709928" y="1417320"/>
            <a:ext cx="1170432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/18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" y="21579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Bulbs functional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Floor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115568"/>
            <a:ext cx="2670048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487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15568"/>
            <a:ext cx="2670048" cy="164592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280160"/>
            <a:ext cx="1389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D4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636008" y="1417320"/>
            <a:ext cx="1170432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/18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337560" y="21579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Bulbs functional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Floor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115568"/>
            <a:ext cx="2670048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B85C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115568"/>
            <a:ext cx="2670048" cy="164592"/>
          </a:xfrm>
          <a:prstGeom prst="rect">
            <a:avLst/>
          </a:prstGeom>
          <a:solidFill>
            <a:srgbClr val="B85C1A"/>
          </a:solidFill>
          <a:ln w="12700">
            <a:solidFill>
              <a:srgbClr val="B85C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280160"/>
            <a:ext cx="1389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" b="1">
                <a:solidFill>
                  <a:srgbClr val="B8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47.2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7562088" y="1417320"/>
            <a:ext cx="1170432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63640" y="21579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building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efficiency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633472"/>
            <a:ext cx="8503920" cy="969264"/>
          </a:xfrm>
          <a:prstGeom prst="rect">
            <a:avLst/>
          </a:prstGeom>
          <a:solidFill>
            <a:srgbClr val="FEF3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633472"/>
            <a:ext cx="64008" cy="9692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743200"/>
            <a:ext cx="347472" cy="34747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32688" y="268833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Cannot Operate Without Lighting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32688" y="298094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B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8 of 18 bulbs functional on the ground floor, no camera can produce usable images. Lighting restoration is a prerequisite for any surveillance deployment;  not an afterthought.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20040" y="376732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REMEDIATION</a:t>
            </a:r>
            <a:endParaRPr lang="en-US" sz="9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059936"/>
            <a:ext cx="182880" cy="1828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85216" y="40416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all 10 non-functional bulbs on ground floor;  1 day task, negligible cost</a:t>
            </a:r>
            <a:endParaRPr lang="en-US" sz="105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315968"/>
            <a:ext cx="182880" cy="1828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85216" y="42976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and replace 9 non-functional first-floor bulbs;  coordinate with facilities</a:t>
            </a:r>
            <a:endParaRPr lang="en-US" sz="105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572000"/>
            <a:ext cx="182880" cy="1828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85216" y="45537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motion-activated emergency lighting at all stairwells and corridor junctions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Perimeter Security Analysis  |  UMaT ACSES Department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3474720" cy="256032"/>
          </a:xfrm>
          <a:prstGeom prst="rect">
            <a:avLst/>
          </a:prstGeom>
          <a:solidFill>
            <a:srgbClr val="4A9263"/>
          </a:solidFill>
          <a:ln w="12700">
            <a:solidFill>
              <a:srgbClr val="4A92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SECURITY;  SURVEY FINDINGS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Analyzer Scan Results;  Real Survey Data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DATA TABLE (from actual WiFi Analyzer scan)</a:t>
            </a:r>
            <a:endParaRPr lang="en-US" sz="8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335024"/>
            <a:ext cx="4389120" cy="12618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6517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 err="1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r>
              <a:rPr lang="en-US" sz="850" b="1" kern="0" spc="1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ANALYZER;  CHANNEL GRAPHS &amp; ACCESS POINT DETAILS</a:t>
            </a: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" y="2871216"/>
            <a:ext cx="2084832" cy="1591056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87168" y="2871216"/>
            <a:ext cx="2240280" cy="15910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19472" y="11155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4919472" y="1389888"/>
            <a:ext cx="3931920" cy="749808"/>
          </a:xfrm>
          <a:prstGeom prst="rect">
            <a:avLst/>
          </a:prstGeom>
          <a:solidFill>
            <a:srgbClr val="1E3D2A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010912" y="138988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4" name="Text 9"/>
          <p:cNvSpPr/>
          <p:nvPr/>
        </p:nvSpPr>
        <p:spPr>
          <a:xfrm>
            <a:off x="5815584" y="1444752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Open/unencrypted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detected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919472" y="2249424"/>
            <a:ext cx="3931920" cy="749808"/>
          </a:xfrm>
          <a:prstGeom prst="rect">
            <a:avLst/>
          </a:prstGeom>
          <a:solidFill>
            <a:srgbClr val="1E3D2A"/>
          </a:solidFill>
          <a:ln w="10160">
            <a:solidFill>
              <a:srgbClr val="D4870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010912" y="224942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4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7" name="Text 12"/>
          <p:cNvSpPr/>
          <p:nvPr/>
        </p:nvSpPr>
        <p:spPr>
          <a:xfrm>
            <a:off x="5815584" y="2304288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SSIDs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(both immediately detected by scanner)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919472" y="3108960"/>
            <a:ext cx="3931920" cy="749808"/>
          </a:xfrm>
          <a:prstGeom prst="rect">
            <a:avLst/>
          </a:prstGeom>
          <a:solidFill>
            <a:srgbClr val="1E3D2A"/>
          </a:solidFill>
          <a:ln w="10160">
            <a:solidFill>
              <a:srgbClr val="B85C1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010912" y="31089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8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20" name="Text 15"/>
          <p:cNvSpPr/>
          <p:nvPr/>
        </p:nvSpPr>
        <p:spPr>
          <a:xfrm>
            <a:off x="5815584" y="3163824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WPA v1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(TKIP;  insecure since 2009)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919472" y="3968496"/>
            <a:ext cx="3931920" cy="749808"/>
          </a:xfrm>
          <a:prstGeom prst="rect">
            <a:avLst/>
          </a:prstGeom>
          <a:solidFill>
            <a:srgbClr val="1E3D2A"/>
          </a:solidFill>
          <a:ln w="10160">
            <a:solidFill>
              <a:srgbClr val="4A655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010912" y="39684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23" name="Text 18"/>
          <p:cNvSpPr/>
          <p:nvPr/>
        </p:nvSpPr>
        <p:spPr>
          <a:xfrm>
            <a:off x="5815584" y="402336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management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WIPS deployed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919472" y="4543499"/>
            <a:ext cx="3931920" cy="402336"/>
          </a:xfrm>
          <a:prstGeom prst="rect">
            <a:avLst/>
          </a:prstGeom>
          <a:solidFill>
            <a:srgbClr val="3D1A0A"/>
          </a:solidFill>
          <a:ln w="10160">
            <a:solidFill>
              <a:srgbClr val="C0392B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6053" y="4538067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85816" y="4459897"/>
            <a:ext cx="3438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at −62 dBm from car park;  fully attackable from outside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Perimeter Security Analysis  |  UMaT ACSES Department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3566160" cy="256032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SECURITY;  THREAT SCENARIOS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Exploitable Threats Enabled by Current Posture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85039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07008"/>
            <a:ext cx="54864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362456"/>
            <a:ext cx="420624" cy="420624"/>
          </a:xfrm>
          <a:prstGeom prst="lin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389888"/>
            <a:ext cx="347472" cy="3474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78992" y="1316736"/>
            <a:ext cx="896112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1316736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103120" y="1261872"/>
            <a:ext cx="627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Evil Twin / Rogue AP Attack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78992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in car park clones 'UMaT' SSID. Devices auto-associate. Attacker acts as man-in-the-middle;  intercepting credentials, session tokens and transfers. No WIPS exists to detect this.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" y="2075688"/>
            <a:ext cx="85039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2075688"/>
            <a:ext cx="54864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5488" y="2231136"/>
            <a:ext cx="420624" cy="420624"/>
          </a:xfrm>
          <a:prstGeom prst="lin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2258568"/>
            <a:ext cx="347472" cy="34747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078992" y="2185416"/>
            <a:ext cx="896112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78992" y="2185416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2103120" y="2130552"/>
            <a:ext cx="627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Traffic Sniffing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078992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open networks transmit all data in plaintext. Any device in range;  including from the car park;  can use Wireshark to capture logins, emails, and files in real time with no active connection required.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20040" y="2944368"/>
            <a:ext cx="85039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0040" y="2944368"/>
            <a:ext cx="54864" cy="749808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75488" y="3099816"/>
            <a:ext cx="420624" cy="420624"/>
          </a:xfrm>
          <a:prstGeom prst="line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127248"/>
            <a:ext cx="347472" cy="34747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1078992" y="3054096"/>
            <a:ext cx="896112" cy="201168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078992" y="3054096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2103120" y="2999232"/>
            <a:ext cx="627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SSID Probing Attack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1078992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hunting hidden SSIDs broadcast probe requests revealing real network names. Attacker captures these, learns the hidden SSID, then clones it with a higher-power AP.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320040" y="3813048"/>
            <a:ext cx="85039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320040" y="3813048"/>
            <a:ext cx="54864" cy="749808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75488" y="3968496"/>
            <a:ext cx="420624" cy="420624"/>
          </a:xfrm>
          <a:prstGeom prst="line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995928"/>
            <a:ext cx="347472" cy="347472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1078992" y="3922776"/>
            <a:ext cx="896112" cy="201168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1078992" y="3922776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2103120" y="3867912"/>
            <a:ext cx="627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Network Reconnaissance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1078992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−62 dBm in the car park, attackers can enumerate all SSIDs, attempt PMKID capture for offline cracking, run deauth floods, and map the full topology without entering the building.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Perimeter Security Analysis  |  UMaT ACSES Department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3749040" cy="256032"/>
          </a:xfrm>
          <a:prstGeom prst="rect">
            <a:avLst/>
          </a:prstGeom>
          <a:solidFill>
            <a:srgbClr val="4A9263"/>
          </a:solidFill>
          <a:ln w="12700">
            <a:solidFill>
              <a:srgbClr val="4A92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ARCHITECTURE;  AUTHENTICATION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WPA3 + 802.1X / RADIUS + NAC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206240" cy="1005840"/>
          </a:xfrm>
          <a:prstGeom prst="rect">
            <a:avLst/>
          </a:prstGeom>
          <a:solidFill>
            <a:srgbClr val="1E3D2A"/>
          </a:solidFill>
          <a:ln w="10160">
            <a:solidFill>
              <a:srgbClr val="1B4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64008" cy="100584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62456"/>
            <a:ext cx="475488" cy="475488"/>
          </a:xfrm>
          <a:prstGeom prst="line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8988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20700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WPA3-Enterprise (Staff SSID)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78992" y="1499616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authenticates individually via 802.1X PEAP-MSCHAPv2. Per-session encryption keys. SAE replaces the vulnerable WPA2 4-way handshake.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2286000"/>
            <a:ext cx="4206240" cy="1005840"/>
          </a:xfrm>
          <a:prstGeom prst="rect">
            <a:avLst/>
          </a:prstGeom>
          <a:solidFill>
            <a:srgbClr val="1E3D2A"/>
          </a:solidFill>
          <a:ln w="10160">
            <a:solidFill>
              <a:srgbClr val="2C6E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2286000"/>
            <a:ext cx="64008" cy="10058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532888"/>
            <a:ext cx="475488" cy="475488"/>
          </a:xfrm>
          <a:prstGeom prst="lin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56032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78992" y="237744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WPA3-Personal + Captive Portal (Student)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78992" y="2670048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authenticate via captive portal. Every session tied to a named account;  audit trail even without 802.1X certificates.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0040" y="3456432"/>
            <a:ext cx="4206240" cy="1005840"/>
          </a:xfrm>
          <a:prstGeom prst="rect">
            <a:avLst/>
          </a:prstGeom>
          <a:solidFill>
            <a:srgbClr val="1E3D2A"/>
          </a:solidFill>
          <a:ln w="10160">
            <a:solidFill>
              <a:srgbClr val="4A926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3456432"/>
            <a:ext cx="64008" cy="1005840"/>
          </a:xfrm>
          <a:prstGeom prst="rect">
            <a:avLst/>
          </a:prstGeom>
          <a:solidFill>
            <a:srgbClr val="4A9263"/>
          </a:solidFill>
          <a:ln w="12700">
            <a:solidFill>
              <a:srgbClr val="4A926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3703320"/>
            <a:ext cx="475488" cy="475488"/>
          </a:xfrm>
          <a:prstGeom prst="line">
            <a:avLst/>
          </a:prstGeom>
          <a:solidFill>
            <a:srgbClr val="4A9263"/>
          </a:solidFill>
          <a:ln w="12700">
            <a:solidFill>
              <a:srgbClr val="4A9263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30752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78992" y="354787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SSID;  Sponsor-Approved Access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078992" y="3840480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Time-limited codes from staff sponsors. 5 Mbps cap, automatic expiry. Internet-only routing;  no internal network access.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709160" y="1115568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&amp; NAC FLOW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709160" y="1389888"/>
            <a:ext cx="310896" cy="31089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709160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102352" y="1408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connects to staff SSID → 802.1X exchange initiated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709160" y="1847088"/>
            <a:ext cx="310896" cy="31089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709160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5102352" y="1865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controller forwards credentials to FreeRADIUS server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709160" y="2304288"/>
            <a:ext cx="310896" cy="31089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709160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5102352" y="2322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validates against institutional LDAP / Active Directory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4709160" y="2761488"/>
            <a:ext cx="310896" cy="31089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70916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5102352" y="27797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→ VLAN assignment returned (Tunnel-Private-Group-ID)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4709160" y="3218688"/>
            <a:ext cx="310896" cy="31089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709160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5102352" y="32369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→ RADIUS returns Access-Reject → device denied entirely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4709160" y="3675888"/>
            <a:ext cx="310896" cy="31089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4709160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5102352" y="3694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 posture check: OS version, AV status, patch compliance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4709160" y="4133088"/>
            <a:ext cx="310896" cy="31089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709160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5102352" y="4151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VLAN 200 (Controlled). Fail → VLAN 500 (Quarantine)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Perimeter Security Analysis  |  UMaT ACSES Department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4206240" cy="256032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ARCHITECTURE;  CONTROL &amp; DETECTION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Controller · WIPS · Signal Boundary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2651760" cy="3310128"/>
          </a:xfrm>
          <a:prstGeom prst="rect">
            <a:avLst/>
          </a:prstGeom>
          <a:solidFill>
            <a:srgbClr val="EAF4EC"/>
          </a:solidFill>
          <a:ln w="12700">
            <a:solidFill>
              <a:srgbClr val="1B4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07008"/>
            <a:ext cx="2651760" cy="475488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6187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" y="126187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Wireless Controller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182880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" y="1792224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WLC / Aruba / UniFi Controller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233172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0664" y="2295144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management plane for all APs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2834640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0664" y="2798064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policy push: encryption, power, channels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337560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40664" y="3300984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AP containment administered centrally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840480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0664" y="3803904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updates without visiting each device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3200400" y="1207008"/>
            <a:ext cx="2651760" cy="3310128"/>
          </a:xfrm>
          <a:prstGeom prst="rect">
            <a:avLst/>
          </a:prstGeom>
          <a:solidFill>
            <a:srgbClr val="EEF5FC"/>
          </a:solidFill>
          <a:ln w="12700">
            <a:solidFill>
              <a:srgbClr val="4A8D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3200400" y="1207008"/>
            <a:ext cx="2651760" cy="475488"/>
          </a:xfrm>
          <a:prstGeom prst="rect">
            <a:avLst/>
          </a:prstGeom>
          <a:solidFill>
            <a:srgbClr val="4A8DB5"/>
          </a:solidFill>
          <a:ln w="12700">
            <a:solidFill>
              <a:srgbClr val="4A8DB5"/>
            </a:solidFill>
            <a:prstDash val="solid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1261872"/>
            <a:ext cx="347472" cy="34747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767328" y="126187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Intrusion Prevention (WIPS)</a:t>
            </a:r>
            <a:endParaRPr lang="en-US" sz="11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828800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621024" y="1792224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Detects: rogue APs, evil twin SSIDs, deauth floods</a:t>
            </a:r>
            <a:endParaRPr lang="en-US" sz="10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331720"/>
            <a:ext cx="182880" cy="18288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621024" y="2295144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Commercial: Cisco Adaptive WIPS, Aruba RFProtect</a:t>
            </a:r>
            <a:endParaRPr lang="en-US" sz="10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834640"/>
            <a:ext cx="182880" cy="18288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621024" y="2798064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option: Kismet (detection mode)</a:t>
            </a:r>
            <a:endParaRPr lang="en-US" sz="10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3337560"/>
            <a:ext cx="182880" cy="18288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3621024" y="3300984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containment: disassociates clients from rogue APs</a:t>
            </a:r>
            <a:endParaRPr lang="en-US" sz="10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3840480"/>
            <a:ext cx="182880" cy="18288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3621024" y="3803904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WIPS events forwarded to SIEM for correlation</a:t>
            </a:r>
            <a:endParaRPr lang="en-US" sz="1000" dirty="0"/>
          </a:p>
        </p:txBody>
      </p:sp>
      <p:sp>
        <p:nvSpPr>
          <p:cNvPr id="34" name="Shape 20"/>
          <p:cNvSpPr/>
          <p:nvPr/>
        </p:nvSpPr>
        <p:spPr>
          <a:xfrm>
            <a:off x="6080760" y="1207008"/>
            <a:ext cx="2651760" cy="3310128"/>
          </a:xfrm>
          <a:prstGeom prst="rect">
            <a:avLst/>
          </a:prstGeom>
          <a:solidFill>
            <a:srgbClr val="FEF9EC"/>
          </a:solidFill>
          <a:ln w="12700">
            <a:solidFill>
              <a:srgbClr val="D487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1"/>
          <p:cNvSpPr/>
          <p:nvPr/>
        </p:nvSpPr>
        <p:spPr>
          <a:xfrm>
            <a:off x="6080760" y="1207008"/>
            <a:ext cx="2651760" cy="475488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1261872"/>
            <a:ext cx="347472" cy="347472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6647688" y="126187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Boundary Management</a:t>
            </a:r>
            <a:endParaRPr lang="en-US" sz="1100" dirty="0"/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828800"/>
            <a:ext cx="182880" cy="182880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6501384" y="1792224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AP transmit power on perimeter-facing units</a:t>
            </a:r>
            <a:endParaRPr lang="en-US" sz="1000" dirty="0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331720"/>
            <a:ext cx="182880" cy="182880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6501384" y="2295144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≤ −75 dBm signal at building exterior</a:t>
            </a:r>
            <a:endParaRPr lang="en-US" sz="1000" dirty="0"/>
          </a:p>
        </p:txBody>
      </p:sp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834640"/>
            <a:ext cx="182880" cy="182880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6501384" y="2798064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antennas on exterior wall-facing APs</a:t>
            </a:r>
            <a:endParaRPr lang="en-US" sz="1000" dirty="0"/>
          </a:p>
        </p:txBody>
      </p:sp>
      <p:pic>
        <p:nvPicPr>
          <p:cNvPr id="44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3337560"/>
            <a:ext cx="182880" cy="182880"/>
          </a:xfrm>
          <a:prstGeom prst="rect">
            <a:avLst/>
          </a:prstGeom>
        </p:spPr>
      </p:pic>
      <p:sp>
        <p:nvSpPr>
          <p:cNvPr id="45" name="Text 26"/>
          <p:cNvSpPr/>
          <p:nvPr/>
        </p:nvSpPr>
        <p:spPr>
          <a:xfrm>
            <a:off x="6501384" y="3300984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RF-shielding film on CL1 and Lab perimeter windows</a:t>
            </a:r>
            <a:endParaRPr lang="en-US" sz="1000" dirty="0"/>
          </a:p>
        </p:txBody>
      </p:sp>
      <p:pic>
        <p:nvPicPr>
          <p:cNvPr id="46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3840480"/>
            <a:ext cx="182880" cy="182880"/>
          </a:xfrm>
          <a:prstGeom prst="rect">
            <a:avLst/>
          </a:prstGeom>
        </p:spPr>
      </p:pic>
      <p:sp>
        <p:nvSpPr>
          <p:cNvPr id="47" name="Text 27"/>
          <p:cNvSpPr/>
          <p:nvPr/>
        </p:nvSpPr>
        <p:spPr>
          <a:xfrm>
            <a:off x="6501384" y="3803904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compliance quarterly via site survey</a:t>
            </a:r>
            <a:endParaRPr lang="en-US" sz="1000" dirty="0"/>
          </a:p>
        </p:txBody>
      </p:sp>
      <p:sp>
        <p:nvSpPr>
          <p:cNvPr id="48" name="Shape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49" name="Text 29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Perimeter Security Analysis  |  UMaT ACSES Department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3383280" cy="256032"/>
          </a:xfrm>
          <a:prstGeom prst="rect">
            <a:avLst/>
          </a:prstGeom>
          <a:solidFill>
            <a:srgbClr val="4A9263"/>
          </a:solidFill>
          <a:ln w="12700">
            <a:solidFill>
              <a:srgbClr val="4A92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ARCHITECTURE;  MONITORING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Monitoring &amp; SIEM Integration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8503920" cy="987552"/>
          </a:xfrm>
          <a:prstGeom prst="rect">
            <a:avLst/>
          </a:prstGeom>
          <a:solidFill>
            <a:srgbClr val="1E3D2A"/>
          </a:solidFill>
          <a:ln w="10160">
            <a:solidFill>
              <a:srgbClr val="2C6E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64008" cy="98755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499616"/>
            <a:ext cx="475488" cy="475488"/>
          </a:xfrm>
          <a:prstGeom prst="lin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52704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5568" y="1353312"/>
            <a:ext cx="7278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Monitoring (Nagios / Zabbix / LibreNMS)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15568" y="1645920"/>
            <a:ext cx="7278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device availability, bandwidth, and interface status across all switches and APs. Alerts generated for any device going offline unexpectedly;  a potential indicator of a denial-of-service or rogue substitution attack. All managed APs report health metrics every 60 seconds.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2404872"/>
            <a:ext cx="8503920" cy="987552"/>
          </a:xfrm>
          <a:prstGeom prst="rect">
            <a:avLst/>
          </a:prstGeom>
          <a:solidFill>
            <a:srgbClr val="1E3D2A"/>
          </a:solidFill>
          <a:ln w="10160">
            <a:solidFill>
              <a:srgbClr val="4A8D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2404872"/>
            <a:ext cx="64008" cy="987552"/>
          </a:xfrm>
          <a:prstGeom prst="rect">
            <a:avLst/>
          </a:prstGeom>
          <a:solidFill>
            <a:srgbClr val="4A8DB5"/>
          </a:solidFill>
          <a:ln w="12700">
            <a:solidFill>
              <a:srgbClr val="4A8D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" y="2642616"/>
            <a:ext cx="475488" cy="475488"/>
          </a:xfrm>
          <a:prstGeom prst="line">
            <a:avLst/>
          </a:prstGeom>
          <a:solidFill>
            <a:srgbClr val="4A8DB5"/>
          </a:solidFill>
          <a:ln w="12700">
            <a:solidFill>
              <a:srgbClr val="4A8DB5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2670048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15568" y="2496312"/>
            <a:ext cx="7278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SIEM: Wazuh / Graylog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115568" y="2788920"/>
            <a:ext cx="7278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logs from wireless controller, RADIUS, WIPS, firewall, and L3 switch. Correlation rules flag repeated auth failures, unusual MAC addresses, high-volume connection attempts, and WIPS containment events;  unified view of security events across the entire network.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0040" y="3547872"/>
            <a:ext cx="8503920" cy="987552"/>
          </a:xfrm>
          <a:prstGeom prst="rect">
            <a:avLst/>
          </a:prstGeom>
          <a:solidFill>
            <a:srgbClr val="1E3D2A"/>
          </a:solidFill>
          <a:ln w="10160">
            <a:solidFill>
              <a:srgbClr val="7B4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3547872"/>
            <a:ext cx="64008" cy="987552"/>
          </a:xfrm>
          <a:prstGeom prst="rect">
            <a:avLst/>
          </a:prstGeom>
          <a:solidFill>
            <a:srgbClr val="7B4FA0"/>
          </a:solidFill>
          <a:ln w="12700">
            <a:solidFill>
              <a:srgbClr val="7B4FA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75488" y="3785616"/>
            <a:ext cx="475488" cy="475488"/>
          </a:xfrm>
          <a:prstGeom prst="line">
            <a:avLst/>
          </a:prstGeom>
          <a:solidFill>
            <a:srgbClr val="7B4FA0"/>
          </a:solidFill>
          <a:ln w="12700">
            <a:solidFill>
              <a:srgbClr val="7B4FA0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813048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15568" y="3639312"/>
            <a:ext cx="7278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Wireless Audit Programme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115568" y="3931920"/>
            <a:ext cx="7278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site surveys using WiFi Analyzer or Ekahau every quarter. Verifies signal boundaries (≤ −75 dBm outside), confirms absence of rogue APs, and checks SSID policy compliance. Results formally documented and reviewed against the baseline from this assessment.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Perimeter Security Analysis  |  UMaT ACSES Department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4480560" cy="256032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ARCHITECTURE;  IMPLEMENTATION 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Wireless Security Implementation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8503920" cy="1024128"/>
          </a:xfrm>
          <a:prstGeom prst="rect">
            <a:avLst/>
          </a:prstGeom>
          <a:solidFill>
            <a:srgbClr val="F9ECEC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07008"/>
            <a:ext cx="1481328" cy="1024128"/>
          </a:xfrm>
          <a:prstGeom prst="rect">
            <a:avLst/>
          </a:prstGeom>
          <a:solidFill>
            <a:srgbClr val="C0392B">
              <a:alpha val="9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0700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1335024"/>
            <a:ext cx="164592" cy="1645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57984" y="1298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all 3 open networks immediately</a:t>
            </a:r>
            <a:endParaRPr lang="en-US" sz="9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335024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9824" y="1298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all APs to WPA2 minimum as emergency measure</a:t>
            </a:r>
            <a:endParaRPr lang="en-US" sz="9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1664208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157984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deprecated TP-Link_Guest WPA (v1) network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664208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9824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transmit power on perimeter APs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1993392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157984" y="19568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all active SSIDs;  establish baseline inventory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320040" y="2377440"/>
            <a:ext cx="8503920" cy="1024128"/>
          </a:xfrm>
          <a:prstGeom prst="rect">
            <a:avLst/>
          </a:prstGeom>
          <a:solidFill>
            <a:srgbClr val="FEF9EC"/>
          </a:solidFill>
          <a:ln w="12700">
            <a:solidFill>
              <a:srgbClr val="D487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320040" y="2377440"/>
            <a:ext cx="1481328" cy="1024128"/>
          </a:xfrm>
          <a:prstGeom prst="rect">
            <a:avLst/>
          </a:prstGeom>
          <a:solidFill>
            <a:srgbClr val="D4870A">
              <a:alpha val="90000"/>
            </a:srgbClr>
          </a:solidFill>
          <a:ln w="12700">
            <a:solidFill>
              <a:srgbClr val="D4870A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320040" y="237744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320040" y="2907792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Months</a:t>
            </a:r>
            <a:endParaRPr lang="en-US" sz="10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2505456"/>
            <a:ext cx="164592" cy="16459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157984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centralised wireless controller (UniFi / Cisco)</a:t>
            </a:r>
            <a:endParaRPr lang="en-US" sz="9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505456"/>
            <a:ext cx="164592" cy="16459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449824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from 7 SSIDs to 3 (staff / student / guest)</a:t>
            </a:r>
            <a:endParaRPr lang="en-US" sz="9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2834640"/>
            <a:ext cx="164592" cy="16459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2157984" y="27980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</a:t>
            </a:r>
            <a:r>
              <a:rPr lang="en-US" sz="950" dirty="0" err="1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FreeRADIUS</a:t>
            </a: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 integrate with user directory</a:t>
            </a:r>
            <a:endParaRPr lang="en-US" sz="95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834640"/>
            <a:ext cx="164592" cy="16459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449824" y="27980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captive portal on student SSID</a:t>
            </a:r>
            <a:endParaRPr lang="en-US" sz="95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3163824"/>
            <a:ext cx="164592" cy="164592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2157984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WIPS in detection mode;  configure SIEM alerting</a:t>
            </a:r>
            <a:endParaRPr lang="en-US" sz="950" dirty="0"/>
          </a:p>
        </p:txBody>
      </p:sp>
      <p:sp>
        <p:nvSpPr>
          <p:cNvPr id="34" name="Shape 22"/>
          <p:cNvSpPr/>
          <p:nvPr/>
        </p:nvSpPr>
        <p:spPr>
          <a:xfrm>
            <a:off x="320040" y="3547872"/>
            <a:ext cx="8503920" cy="1024128"/>
          </a:xfrm>
          <a:prstGeom prst="rect">
            <a:avLst/>
          </a:prstGeom>
          <a:solidFill>
            <a:srgbClr val="EAF4EC"/>
          </a:solidFill>
          <a:ln w="12700">
            <a:solidFill>
              <a:srgbClr val="2C6E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3"/>
          <p:cNvSpPr/>
          <p:nvPr/>
        </p:nvSpPr>
        <p:spPr>
          <a:xfrm>
            <a:off x="320040" y="3547872"/>
            <a:ext cx="1481328" cy="1024128"/>
          </a:xfrm>
          <a:prstGeom prst="rect">
            <a:avLst/>
          </a:prstGeom>
          <a:solidFill>
            <a:srgbClr val="2C6E49">
              <a:alpha val="90000"/>
            </a:srgbClr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6" name="Text 24"/>
          <p:cNvSpPr/>
          <p:nvPr/>
        </p:nvSpPr>
        <p:spPr>
          <a:xfrm>
            <a:off x="320040" y="354787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37" name="Text 25"/>
          <p:cNvSpPr/>
          <p:nvPr/>
        </p:nvSpPr>
        <p:spPr>
          <a:xfrm>
            <a:off x="320040" y="4078224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00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3675888"/>
            <a:ext cx="164592" cy="164592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2157984" y="3639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staff SSID to WPA3-Enterprise with 802.1X</a:t>
            </a:r>
            <a:endParaRPr lang="en-US" sz="95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3675888"/>
            <a:ext cx="164592" cy="164592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5449824" y="3639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NAC (</a:t>
            </a:r>
            <a:r>
              <a:rPr lang="en-US" sz="950" dirty="0" err="1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PacketFence</a:t>
            </a: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 enforce posture checks</a:t>
            </a:r>
            <a:endParaRPr lang="en-US" sz="950" dirty="0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005072"/>
            <a:ext cx="164592" cy="164592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2157984" y="3968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WIPS active containment mode</a:t>
            </a:r>
            <a:endParaRPr lang="en-US" sz="950" dirty="0"/>
          </a:p>
        </p:txBody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4005072"/>
            <a:ext cx="164592" cy="164592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5449824" y="3968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directional antennas on perimeter APs</a:t>
            </a:r>
            <a:endParaRPr lang="en-US" sz="950" dirty="0"/>
          </a:p>
        </p:txBody>
      </p:sp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334256"/>
            <a:ext cx="164592" cy="164592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2157984" y="4297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first post-remediation site survey;  verify ≤ −75 dBm at boundary</a:t>
            </a:r>
            <a:endParaRPr lang="en-US" sz="950" dirty="0"/>
          </a:p>
        </p:txBody>
      </p:sp>
      <p:sp>
        <p:nvSpPr>
          <p:cNvPr id="48" name="Shape 3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49" name="Text 32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Perimeter Security Analysis  |  UMaT ACSES Department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3657600" cy="256032"/>
          </a:xfrm>
          <a:prstGeom prst="rect">
            <a:avLst/>
          </a:prstGeom>
          <a:solidFill>
            <a:srgbClr val="4A9263"/>
          </a:solidFill>
          <a:ln w="12700">
            <a:solidFill>
              <a:srgbClr val="4A92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&amp; OPERATIONAL SECURITY;  ACTORS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Actors &amp; Risk Profiles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804672"/>
          </a:xfrm>
          <a:prstGeom prst="rect">
            <a:avLst/>
          </a:prstGeom>
          <a:solidFill>
            <a:srgbClr val="1E3D2A"/>
          </a:solidFill>
          <a:ln w="10160">
            <a:solidFill>
              <a:srgbClr val="4A8D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64008" cy="804672"/>
          </a:xfrm>
          <a:prstGeom prst="rect">
            <a:avLst/>
          </a:prstGeom>
          <a:solidFill>
            <a:srgbClr val="4A8DB5"/>
          </a:solidFill>
          <a:ln w="12700">
            <a:solidFill>
              <a:srgbClr val="4A8D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298448"/>
            <a:ext cx="420624" cy="420624"/>
          </a:xfrm>
          <a:prstGeom prst="line">
            <a:avLst/>
          </a:prstGeom>
          <a:solidFill>
            <a:srgbClr val="4A8DB5"/>
          </a:solidFill>
          <a:ln w="12700">
            <a:solidFill>
              <a:srgbClr val="4A8DB5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316736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170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&amp; Staff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78992" y="14813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privilege · Access to sensitive systems and server room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480560" y="1207008"/>
            <a:ext cx="3913632" cy="621792"/>
          </a:xfrm>
          <a:prstGeom prst="rect">
            <a:avLst/>
          </a:prstGeom>
          <a:solidFill>
            <a:srgbClr val="1A2A1E">
              <a:alpha val="60000"/>
            </a:srgbClr>
          </a:solidFill>
          <a:ln w="5080">
            <a:solidFill>
              <a:srgbClr val="4A8D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1207008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risks: credential sharing, unlocked offices, accidental disclosure, failure to challenge unrecognised visitors.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" y="2029968"/>
            <a:ext cx="8503920" cy="804672"/>
          </a:xfrm>
          <a:prstGeom prst="rect">
            <a:avLst/>
          </a:prstGeom>
          <a:solidFill>
            <a:srgbClr val="1E3D2A"/>
          </a:solidFill>
          <a:ln w="10160">
            <a:solidFill>
              <a:srgbClr val="2C6E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2029968"/>
            <a:ext cx="64008" cy="80467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5488" y="2212848"/>
            <a:ext cx="420624" cy="420624"/>
          </a:xfrm>
          <a:prstGeom prst="line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231136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78992" y="2084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078992" y="23957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access · Lab use during scheduled periods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480560" y="2121408"/>
            <a:ext cx="3913632" cy="621792"/>
          </a:xfrm>
          <a:prstGeom prst="rect">
            <a:avLst/>
          </a:prstGeom>
          <a:solidFill>
            <a:srgbClr val="1A2A1E">
              <a:alpha val="60000"/>
            </a:srgbClr>
          </a:solidFill>
          <a:ln w="5080">
            <a:solidFill>
              <a:srgbClr val="2C6E4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90288" y="2121408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risks: off-hours access attempts, exploitation of unattended unlocked workstations, personal hotspot deployment.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20040" y="2944368"/>
            <a:ext cx="8503920" cy="804672"/>
          </a:xfrm>
          <a:prstGeom prst="rect">
            <a:avLst/>
          </a:prstGeom>
          <a:solidFill>
            <a:srgbClr val="1E3D2A"/>
          </a:solidFill>
          <a:ln w="10160">
            <a:solidFill>
              <a:srgbClr val="D487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0040" y="2944368"/>
            <a:ext cx="64008" cy="804672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75488" y="3127248"/>
            <a:ext cx="420624" cy="420624"/>
          </a:xfrm>
          <a:prstGeom prst="line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145536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78992" y="2999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Staff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1078992" y="33101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physical access · Frequently unsupervised, often off-hours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480560" y="3035808"/>
            <a:ext cx="3913632" cy="621792"/>
          </a:xfrm>
          <a:prstGeom prst="rect">
            <a:avLst/>
          </a:prstGeom>
          <a:solidFill>
            <a:srgbClr val="1A2A1E">
              <a:alpha val="60000"/>
            </a:srgbClr>
          </a:solidFill>
          <a:ln w="5080">
            <a:solidFill>
              <a:srgbClr val="D4870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590288" y="3035808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risks: access to restricted zones without formal audit trail, physical access to networking hardware.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320040" y="3858768"/>
            <a:ext cx="8503920" cy="804672"/>
          </a:xfrm>
          <a:prstGeom prst="rect">
            <a:avLst/>
          </a:prstGeom>
          <a:solidFill>
            <a:srgbClr val="1E3D2A"/>
          </a:solidFill>
          <a:ln w="10160">
            <a:solidFill>
              <a:srgbClr val="7B4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320040" y="3858768"/>
            <a:ext cx="64008" cy="804672"/>
          </a:xfrm>
          <a:prstGeom prst="rect">
            <a:avLst/>
          </a:prstGeom>
          <a:solidFill>
            <a:srgbClr val="7B4FA0"/>
          </a:solidFill>
          <a:ln w="12700">
            <a:solidFill>
              <a:srgbClr val="7B4FA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75488" y="4041648"/>
            <a:ext cx="420624" cy="420624"/>
          </a:xfrm>
          <a:prstGeom prst="line">
            <a:avLst/>
          </a:prstGeom>
          <a:solidFill>
            <a:srgbClr val="7B4FA0"/>
          </a:solidFill>
          <a:ln w="12700">
            <a:solidFill>
              <a:srgbClr val="7B4FA0"/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059936"/>
            <a:ext cx="347472" cy="34747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078992" y="3913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&amp; Contractors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1078992" y="42245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registration · Unverified and unescorted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480560" y="3950208"/>
            <a:ext cx="3913632" cy="621792"/>
          </a:xfrm>
          <a:prstGeom prst="rect">
            <a:avLst/>
          </a:prstGeom>
          <a:solidFill>
            <a:srgbClr val="1A2A1E">
              <a:alpha val="60000"/>
            </a:srgbClr>
          </a:solidFill>
          <a:ln w="5080">
            <a:solidFill>
              <a:srgbClr val="7B4FA0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590288" y="3950208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risks: no record of presence, ability to access any area unchallenged, unknown device introduction.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Perimeter Security Analysis  |  UMaT ACSES Department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3749040" cy="256032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&amp; OPERATIONAL SECURITY;  THREATS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Threat Scenarios</a:t>
            </a:r>
            <a:endParaRPr lang="en-US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91072" y="1207008"/>
            <a:ext cx="2542032" cy="32369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91072" y="4169664"/>
            <a:ext cx="2542032" cy="27432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45936" y="416966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building corridor;  tailgating scenario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0040" y="1207008"/>
            <a:ext cx="5852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207008"/>
            <a:ext cx="54864" cy="658368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" y="1325880"/>
            <a:ext cx="384048" cy="384048"/>
          </a:xfrm>
          <a:prstGeom prst="line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1353312"/>
            <a:ext cx="310896" cy="3108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024128" y="1298448"/>
            <a:ext cx="822960" cy="182880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24128" y="12984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975104" y="124358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Tailgating / Piggybacking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24128" y="15179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follows staff through a corner door without credentials. Four corner doors on CL1 and the Lab create multiple simultaneous entry vectors. Leaves no record.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20040" y="1965960"/>
            <a:ext cx="5852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1965960"/>
            <a:ext cx="54864" cy="658368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75488" y="2084832"/>
            <a:ext cx="384048" cy="384048"/>
          </a:xfrm>
          <a:prstGeom prst="line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2112264"/>
            <a:ext cx="310896" cy="31089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24128" y="2057400"/>
            <a:ext cx="822960" cy="182880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024128" y="20574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1975104" y="20025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 Workstation Exploitation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024128" y="227685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routinely leave computers logged in. An attacker can access files, install keyloggers, or extract credentials within minutes. No auto-lock policy enforced.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20040" y="2724912"/>
            <a:ext cx="5852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20040" y="2724912"/>
            <a:ext cx="54864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75488" y="2843784"/>
            <a:ext cx="384048" cy="384048"/>
          </a:xfrm>
          <a:prstGeom prst="lin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2871216"/>
            <a:ext cx="310896" cy="310896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1024128" y="2816352"/>
            <a:ext cx="822960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024128" y="28163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1975104" y="27614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Wireless Access Point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024128" y="30358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deploys personal hotspot inside the building cloning a departmental SSID. Given open networks already exist, users have no reliable cue they connected to a rogue AP.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320040" y="3483864"/>
            <a:ext cx="5852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20040" y="3483864"/>
            <a:ext cx="54864" cy="658368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75488" y="3602736"/>
            <a:ext cx="384048" cy="384048"/>
          </a:xfrm>
          <a:prstGeom prst="line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" y="3630168"/>
            <a:ext cx="310896" cy="310896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1024128" y="3575304"/>
            <a:ext cx="822960" cy="182880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1024128" y="35753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9" name="Text 32"/>
          <p:cNvSpPr/>
          <p:nvPr/>
        </p:nvSpPr>
        <p:spPr>
          <a:xfrm>
            <a:off x="1975104" y="35204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 of IT / Maintenance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1024128" y="37947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visitor registration or ID verification, a person posing as a technician gains unchallenged physical access to any area, including the server room.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Perimeter Security Analysis  |  UMaT ACSES Department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3108960" cy="256032"/>
          </a:xfrm>
          <a:prstGeom prst="rect">
            <a:avLst/>
          </a:prstGeom>
          <a:solidFill>
            <a:srgbClr val="4A9263"/>
          </a:solidFill>
          <a:ln w="12700">
            <a:solidFill>
              <a:srgbClr val="4A92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ARCHITECTURE;  TOPOLOGY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Defence-in-Depth Network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05840" y="1115568"/>
            <a:ext cx="2011680" cy="548640"/>
          </a:xfrm>
          <a:prstGeom prst="ellipse">
            <a:avLst/>
          </a:prstGeom>
          <a:solidFill>
            <a:srgbClr val="E8F4FD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1155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8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/ CAMPUS BACKBONE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11680" y="1664208"/>
            <a:ext cx="0" cy="256032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804672" y="1920240"/>
            <a:ext cx="2414016" cy="475488"/>
          </a:xfrm>
          <a:prstGeom prst="rect">
            <a:avLst/>
          </a:prstGeom>
          <a:solidFill>
            <a:srgbClr val="1B4D2E"/>
          </a:solidFill>
          <a:ln w="19050">
            <a:solidFill>
              <a:srgbClr val="A8C5A0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984248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1872" y="19202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/ IDS (Snort)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11680" y="2395728"/>
            <a:ext cx="0" cy="237744"/>
          </a:xfrm>
          <a:prstGeom prst="line">
            <a:avLst/>
          </a:prstGeom>
          <a:noFill/>
          <a:ln w="19050">
            <a:solidFill>
              <a:srgbClr val="4A9263"/>
            </a:solidFill>
            <a:prstDash val="solid"/>
            <a:tailEnd type="arrow"/>
          </a:ln>
        </p:spPr>
      </p:sp>
      <p:sp>
        <p:nvSpPr>
          <p:cNvPr id="13" name="Shape 10"/>
          <p:cNvSpPr/>
          <p:nvPr/>
        </p:nvSpPr>
        <p:spPr>
          <a:xfrm>
            <a:off x="3401568" y="2487168"/>
            <a:ext cx="1389888" cy="347472"/>
          </a:xfrm>
          <a:prstGeom prst="rect">
            <a:avLst/>
          </a:prstGeom>
          <a:solidFill>
            <a:srgbClr val="D4EDDA"/>
          </a:solidFill>
          <a:ln w="10160">
            <a:solidFill>
              <a:srgbClr val="4A9263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253288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67328" y="248716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WIPS Monitor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218688" y="2660904"/>
            <a:ext cx="182880" cy="0"/>
          </a:xfrm>
          <a:prstGeom prst="line">
            <a:avLst/>
          </a:prstGeom>
          <a:noFill/>
          <a:ln w="10160">
            <a:solidFill>
              <a:srgbClr val="4A9263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804672" y="2633472"/>
            <a:ext cx="2414016" cy="438912"/>
          </a:xfrm>
          <a:prstGeom prst="rect">
            <a:avLst/>
          </a:prstGeom>
          <a:solidFill>
            <a:srgbClr val="2C6E49"/>
          </a:solidFill>
          <a:ln w="12700">
            <a:solidFill>
              <a:srgbClr val="4A9263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2679192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43584" y="26334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L3 SWITCH + ACLs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401568" y="2944368"/>
            <a:ext cx="1389888" cy="347472"/>
          </a:xfrm>
          <a:prstGeom prst="rect">
            <a:avLst/>
          </a:prstGeom>
          <a:solidFill>
            <a:srgbClr val="F2EEFF"/>
          </a:solidFill>
          <a:ln w="10160">
            <a:solidFill>
              <a:srgbClr val="7B4FA0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008" y="299008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767328" y="294436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/ SIEM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3218688" y="3118104"/>
            <a:ext cx="182880" cy="0"/>
          </a:xfrm>
          <a:prstGeom prst="line">
            <a:avLst/>
          </a:prstGeom>
          <a:noFill/>
          <a:ln w="10160">
            <a:solidFill>
              <a:srgbClr val="7B4FA0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566928" y="3072384"/>
            <a:ext cx="2468880" cy="0"/>
          </a:xfrm>
          <a:prstGeom prst="line">
            <a:avLst/>
          </a:prstGeom>
          <a:noFill/>
          <a:ln w="15240">
            <a:solidFill>
              <a:srgbClr val="4A926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04088" y="3072384"/>
            <a:ext cx="0" cy="237744"/>
          </a:xfrm>
          <a:prstGeom prst="line">
            <a:avLst/>
          </a:prstGeom>
          <a:noFill/>
          <a:ln w="15240">
            <a:solidFill>
              <a:srgbClr val="4A9263"/>
            </a:solidFill>
            <a:prstDash val="solid"/>
            <a:tailEnd type="arrow"/>
          </a:ln>
        </p:spPr>
      </p:sp>
      <p:sp>
        <p:nvSpPr>
          <p:cNvPr id="26" name="Shape 20"/>
          <p:cNvSpPr/>
          <p:nvPr/>
        </p:nvSpPr>
        <p:spPr>
          <a:xfrm>
            <a:off x="338328" y="3310128"/>
            <a:ext cx="749808" cy="676656"/>
          </a:xfrm>
          <a:prstGeom prst="rect">
            <a:avLst/>
          </a:prstGeom>
          <a:solidFill>
            <a:srgbClr val="7B4FA0"/>
          </a:solidFill>
          <a:ln w="12700">
            <a:solidFill>
              <a:srgbClr val="7B4FA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38328" y="331012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338328" y="3657600"/>
            <a:ext cx="749808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1408176" y="3072384"/>
            <a:ext cx="0" cy="237744"/>
          </a:xfrm>
          <a:prstGeom prst="line">
            <a:avLst/>
          </a:prstGeom>
          <a:noFill/>
          <a:ln w="15240">
            <a:solidFill>
              <a:srgbClr val="4A9263"/>
            </a:solidFill>
            <a:prstDash val="solid"/>
            <a:tailEnd type="arrow"/>
          </a:ln>
        </p:spPr>
      </p:sp>
      <p:sp>
        <p:nvSpPr>
          <p:cNvPr id="30" name="Shape 24"/>
          <p:cNvSpPr/>
          <p:nvPr/>
        </p:nvSpPr>
        <p:spPr>
          <a:xfrm>
            <a:off x="1042416" y="3310128"/>
            <a:ext cx="749808" cy="6766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042416" y="331012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100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1042416" y="3657600"/>
            <a:ext cx="749808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750" dirty="0"/>
          </a:p>
        </p:txBody>
      </p:sp>
      <p:sp>
        <p:nvSpPr>
          <p:cNvPr id="33" name="Shape 27"/>
          <p:cNvSpPr/>
          <p:nvPr/>
        </p:nvSpPr>
        <p:spPr>
          <a:xfrm>
            <a:off x="2112264" y="3072384"/>
            <a:ext cx="0" cy="237744"/>
          </a:xfrm>
          <a:prstGeom prst="line">
            <a:avLst/>
          </a:prstGeom>
          <a:noFill/>
          <a:ln w="15240">
            <a:solidFill>
              <a:srgbClr val="4A9263"/>
            </a:solidFill>
            <a:prstDash val="solid"/>
            <a:tailEnd type="arrow"/>
          </a:ln>
        </p:spPr>
      </p:sp>
      <p:sp>
        <p:nvSpPr>
          <p:cNvPr id="34" name="Shape 28"/>
          <p:cNvSpPr/>
          <p:nvPr/>
        </p:nvSpPr>
        <p:spPr>
          <a:xfrm>
            <a:off x="1746504" y="3310128"/>
            <a:ext cx="749808" cy="67665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1746504" y="331012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200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1746504" y="3657600"/>
            <a:ext cx="749808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750" dirty="0"/>
          </a:p>
        </p:txBody>
      </p:sp>
      <p:sp>
        <p:nvSpPr>
          <p:cNvPr id="37" name="Shape 31"/>
          <p:cNvSpPr/>
          <p:nvPr/>
        </p:nvSpPr>
        <p:spPr>
          <a:xfrm>
            <a:off x="2816352" y="3072384"/>
            <a:ext cx="0" cy="237744"/>
          </a:xfrm>
          <a:prstGeom prst="line">
            <a:avLst/>
          </a:prstGeom>
          <a:noFill/>
          <a:ln w="15240">
            <a:solidFill>
              <a:srgbClr val="4A9263"/>
            </a:solidFill>
            <a:prstDash val="solid"/>
            <a:tailEnd type="arrow"/>
          </a:ln>
        </p:spPr>
      </p:sp>
      <p:sp>
        <p:nvSpPr>
          <p:cNvPr id="38" name="Shape 32"/>
          <p:cNvSpPr/>
          <p:nvPr/>
        </p:nvSpPr>
        <p:spPr>
          <a:xfrm>
            <a:off x="2450592" y="3310128"/>
            <a:ext cx="749808" cy="676656"/>
          </a:xfrm>
          <a:prstGeom prst="rect">
            <a:avLst/>
          </a:prstGeom>
          <a:solidFill>
            <a:srgbClr val="4A8DB5"/>
          </a:solidFill>
          <a:ln w="12700">
            <a:solidFill>
              <a:srgbClr val="4A8DB5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2450592" y="331012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300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2450592" y="3657600"/>
            <a:ext cx="749808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750" dirty="0"/>
          </a:p>
        </p:txBody>
      </p:sp>
      <p:sp>
        <p:nvSpPr>
          <p:cNvPr id="41" name="Shape 35"/>
          <p:cNvSpPr/>
          <p:nvPr/>
        </p:nvSpPr>
        <p:spPr>
          <a:xfrm>
            <a:off x="3520440" y="3072384"/>
            <a:ext cx="0" cy="237744"/>
          </a:xfrm>
          <a:prstGeom prst="line">
            <a:avLst/>
          </a:prstGeom>
          <a:noFill/>
          <a:ln w="15240">
            <a:solidFill>
              <a:srgbClr val="4A9263"/>
            </a:solidFill>
            <a:prstDash val="solid"/>
            <a:tailEnd type="arrow"/>
          </a:ln>
        </p:spPr>
      </p:sp>
      <p:sp>
        <p:nvSpPr>
          <p:cNvPr id="42" name="Shape 36"/>
          <p:cNvSpPr/>
          <p:nvPr/>
        </p:nvSpPr>
        <p:spPr>
          <a:xfrm>
            <a:off x="3154680" y="3310128"/>
            <a:ext cx="749808" cy="676656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3154680" y="331012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400+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3154680" y="3657600"/>
            <a:ext cx="749808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Guest/Quar.</a:t>
            </a:r>
            <a:endParaRPr lang="en-US" sz="750" dirty="0"/>
          </a:p>
        </p:txBody>
      </p:sp>
      <p:sp>
        <p:nvSpPr>
          <p:cNvPr id="45" name="Text 39"/>
          <p:cNvSpPr/>
          <p:nvPr/>
        </p:nvSpPr>
        <p:spPr>
          <a:xfrm>
            <a:off x="5074920" y="1115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DEFENCE-IN-DEPTH LAYERS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5074920" y="1389888"/>
            <a:ext cx="3749040" cy="731520"/>
          </a:xfrm>
          <a:prstGeom prst="rect">
            <a:avLst/>
          </a:prstGeom>
          <a:solidFill>
            <a:srgbClr val="1E3D2A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5074920" y="1389888"/>
            <a:ext cx="475488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5074920" y="1389888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49" name="Text 43"/>
          <p:cNvSpPr/>
          <p:nvPr/>
        </p:nvSpPr>
        <p:spPr>
          <a:xfrm>
            <a:off x="5632704" y="144475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</a:t>
            </a:r>
            <a:endParaRPr lang="en-US" sz="1300" dirty="0"/>
          </a:p>
        </p:txBody>
      </p:sp>
      <p:sp>
        <p:nvSpPr>
          <p:cNvPr id="50" name="Text 44"/>
          <p:cNvSpPr/>
          <p:nvPr/>
        </p:nvSpPr>
        <p:spPr>
          <a:xfrm>
            <a:off x="5632704" y="1737360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+ IDS filters all campus traffic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5074920" y="2249424"/>
            <a:ext cx="3749040" cy="731520"/>
          </a:xfrm>
          <a:prstGeom prst="rect">
            <a:avLst/>
          </a:prstGeom>
          <a:solidFill>
            <a:srgbClr val="1E3D2A"/>
          </a:solidFill>
          <a:ln w="10160">
            <a:solidFill>
              <a:srgbClr val="D4870A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5074920" y="2249424"/>
            <a:ext cx="475488" cy="731520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5074920" y="2249424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54" name="Text 48"/>
          <p:cNvSpPr/>
          <p:nvPr/>
        </p:nvSpPr>
        <p:spPr>
          <a:xfrm>
            <a:off x="5632704" y="230428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300" dirty="0"/>
          </a:p>
        </p:txBody>
      </p:sp>
      <p:sp>
        <p:nvSpPr>
          <p:cNvPr id="55" name="Text 49"/>
          <p:cNvSpPr/>
          <p:nvPr/>
        </p:nvSpPr>
        <p:spPr>
          <a:xfrm>
            <a:off x="5632704" y="2596896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5-VLAN design + per-VLAN ACL enforcement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5074920" y="3108960"/>
            <a:ext cx="3749040" cy="731520"/>
          </a:xfrm>
          <a:prstGeom prst="rect">
            <a:avLst/>
          </a:prstGeom>
          <a:solidFill>
            <a:srgbClr val="1E3D2A"/>
          </a:solidFill>
          <a:ln w="10160">
            <a:solidFill>
              <a:srgbClr val="2C6E49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5074920" y="3108960"/>
            <a:ext cx="475488" cy="7315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5074920" y="3108960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59" name="Text 53"/>
          <p:cNvSpPr/>
          <p:nvPr/>
        </p:nvSpPr>
        <p:spPr>
          <a:xfrm>
            <a:off x="5632704" y="316382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60" name="Text 54"/>
          <p:cNvSpPr/>
          <p:nvPr/>
        </p:nvSpPr>
        <p:spPr>
          <a:xfrm>
            <a:off x="5632704" y="3456432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802.1X / RADIUS + NAC posture checks</a:t>
            </a:r>
            <a:endParaRPr lang="en-US" sz="1000" dirty="0"/>
          </a:p>
        </p:txBody>
      </p:sp>
      <p:sp>
        <p:nvSpPr>
          <p:cNvPr id="61" name="Shape 55"/>
          <p:cNvSpPr/>
          <p:nvPr/>
        </p:nvSpPr>
        <p:spPr>
          <a:xfrm>
            <a:off x="5074920" y="3968496"/>
            <a:ext cx="3749040" cy="731520"/>
          </a:xfrm>
          <a:prstGeom prst="rect">
            <a:avLst/>
          </a:prstGeom>
          <a:solidFill>
            <a:srgbClr val="1E3D2A"/>
          </a:solidFill>
          <a:ln w="10160">
            <a:solidFill>
              <a:srgbClr val="4A8DB5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5074920" y="3968496"/>
            <a:ext cx="475488" cy="731520"/>
          </a:xfrm>
          <a:prstGeom prst="rect">
            <a:avLst/>
          </a:prstGeom>
          <a:solidFill>
            <a:srgbClr val="4A8DB5"/>
          </a:solidFill>
          <a:ln w="12700">
            <a:solidFill>
              <a:srgbClr val="4A8DB5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5074920" y="3968496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64" name="Text 58"/>
          <p:cNvSpPr/>
          <p:nvPr/>
        </p:nvSpPr>
        <p:spPr>
          <a:xfrm>
            <a:off x="5632704" y="402336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65" name="Text 59"/>
          <p:cNvSpPr/>
          <p:nvPr/>
        </p:nvSpPr>
        <p:spPr>
          <a:xfrm>
            <a:off x="5632704" y="4315968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WIPS + SIEM + NMS continuous visibility</a:t>
            </a:r>
            <a:endParaRPr lang="en-US" sz="1000" dirty="0"/>
          </a:p>
        </p:txBody>
      </p:sp>
      <p:sp>
        <p:nvSpPr>
          <p:cNvPr id="66" name="Shape 6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67" name="Text 61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Perimeter Security Analysis  |  UMaT ACSES Department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75" y="0"/>
            <a:ext cx="201168" cy="514350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3383280" cy="256032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ARCHITECTURE;  VLAN DESIGN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5-VLAN Segmentation Design (Expanded from 3)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42416"/>
            <a:ext cx="8503920" cy="310896"/>
          </a:xfrm>
          <a:prstGeom prst="rect">
            <a:avLst/>
          </a:prstGeom>
          <a:solidFill>
            <a:srgbClr val="D4EDDA"/>
          </a:solidFill>
          <a:ln w="6350">
            <a:solidFill>
              <a:srgbClr val="A8C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4241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Deny all inter-VLAN traffic by default;  permit only explicitly justified flows by exception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426464"/>
            <a:ext cx="8503920" cy="548640"/>
          </a:xfrm>
          <a:prstGeom prst="rect">
            <a:avLst/>
          </a:prstGeom>
          <a:solidFill>
            <a:srgbClr val="F2EEFF"/>
          </a:solidFill>
          <a:ln w="7620">
            <a:solidFill>
              <a:srgbClr val="7B4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26464"/>
            <a:ext cx="969264" cy="548640"/>
          </a:xfrm>
          <a:prstGeom prst="rect">
            <a:avLst/>
          </a:prstGeom>
          <a:solidFill>
            <a:srgbClr val="7B4FA0"/>
          </a:solidFill>
          <a:ln w="12700">
            <a:solidFill>
              <a:srgbClr val="7B4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2646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71907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71600" y="14630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Switches, APs, wireless controller, RADIUS, SIEM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80560" y="1481328"/>
            <a:ext cx="4224528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7B4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481328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devices permitted. IT admin workstations via explicit ACE only. All other inter-VLAN traffic denied.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029968"/>
            <a:ext cx="8503920" cy="548640"/>
          </a:xfrm>
          <a:prstGeom prst="rect">
            <a:avLst/>
          </a:prstGeom>
          <a:solidFill>
            <a:srgbClr val="FEF0F0"/>
          </a:solidFill>
          <a:ln w="762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029968"/>
            <a:ext cx="969264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299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232257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71600" y="206654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room, core infrastructure, IT admin workstations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80560" y="2084832"/>
            <a:ext cx="4224528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084832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via firewall only. Deny all inbound from VLAN 200/300/400/500. Permit RADIUS queries from VLAN 200.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633472"/>
            <a:ext cx="8503920" cy="548640"/>
          </a:xfrm>
          <a:prstGeom prst="rect">
            <a:avLst/>
          </a:prstGeom>
          <a:solidFill>
            <a:srgbClr val="EAF4EC"/>
          </a:solidFill>
          <a:ln w="7620">
            <a:solidFill>
              <a:srgbClr val="2C6E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633472"/>
            <a:ext cx="969264" cy="54864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63347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292608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71600" y="267004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offices, IT support, authenticated staff lab workstations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80560" y="2688336"/>
            <a:ext cx="4224528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2C6E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688336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access permitted. TCP 445/443 to VLAN 100 (file server). Deny inbound from VLAN 300/400/500.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236976"/>
            <a:ext cx="8503920" cy="548640"/>
          </a:xfrm>
          <a:prstGeom prst="rect">
            <a:avLst/>
          </a:prstGeom>
          <a:solidFill>
            <a:srgbClr val="EEF5FC"/>
          </a:solidFill>
          <a:ln w="7620">
            <a:solidFill>
              <a:srgbClr val="4A8D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236976"/>
            <a:ext cx="969264" cy="548640"/>
          </a:xfrm>
          <a:prstGeom prst="rect">
            <a:avLst/>
          </a:prstGeom>
          <a:solidFill>
            <a:srgbClr val="4A8DB5"/>
          </a:solidFill>
          <a:ln w="12700">
            <a:solidFill>
              <a:srgbClr val="4A8D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23697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352958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371600" y="32735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classroom PCs, captive-portal authenticated student devices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80560" y="3291840"/>
            <a:ext cx="4224528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4A8D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3291840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only (TCP 80/443/DNS). Client isolation enabled. Deny all RFC1918 destinations.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3840480"/>
            <a:ext cx="8503920" cy="548640"/>
          </a:xfrm>
          <a:prstGeom prst="rect">
            <a:avLst/>
          </a:prstGeom>
          <a:solidFill>
            <a:srgbClr val="FEF9EC"/>
          </a:solidFill>
          <a:ln w="7620">
            <a:solidFill>
              <a:srgbClr val="D487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840480"/>
            <a:ext cx="969264" cy="548640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8404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400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" y="413308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371600" y="387705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&amp; contractor devices, time-limited sponsor-approved access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480560" y="3895344"/>
            <a:ext cx="4224528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D4870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3895344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only. 5 Mbps cap. Session time limit. Deny all RFC1918. Complete isolation.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0040" y="4443984"/>
            <a:ext cx="8503920" cy="548640"/>
          </a:xfrm>
          <a:prstGeom prst="rect">
            <a:avLst/>
          </a:prstGeom>
          <a:solidFill>
            <a:srgbClr val="F2F4F7"/>
          </a:solidFill>
          <a:ln w="7620">
            <a:solidFill>
              <a:srgbClr val="4A65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0040" y="4443984"/>
            <a:ext cx="969264" cy="548640"/>
          </a:xfrm>
          <a:prstGeom prst="rect">
            <a:avLst/>
          </a:prstGeom>
          <a:solidFill>
            <a:srgbClr val="4A6550"/>
          </a:solidFill>
          <a:ln w="12700">
            <a:solidFill>
              <a:srgbClr val="4A65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44398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500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20040" y="473659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371600" y="448056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failing NAC posture checks, unrecognised MAC addresses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480560" y="4498848"/>
            <a:ext cx="4224528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4A65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4498848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Update/patch servers only. No internet. No internal VLAN access. DHCP by NAC.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965223"/>
            <a:ext cx="9144000" cy="18745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61188" y="48334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Perimeter Security Analysis  |  UMaT ACSES Department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3474720" cy="256032"/>
          </a:xfrm>
          <a:prstGeom prst="rect">
            <a:avLst/>
          </a:prstGeom>
          <a:solidFill>
            <a:srgbClr val="4A9263"/>
          </a:solidFill>
          <a:ln w="12700">
            <a:solidFill>
              <a:srgbClr val="4A92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ARCHITECTURE;  ACL &amp; RADIUS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Implementation &amp; RADIUS Authentication Flow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ACL;  VLAN 200 (CONTROLLED ZONE)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206240" cy="2029968"/>
          </a:xfrm>
          <a:prstGeom prst="rect">
            <a:avLst/>
          </a:prstGeom>
          <a:solidFill>
            <a:srgbClr val="0D1F14"/>
          </a:solidFill>
          <a:ln w="10160">
            <a:solidFill>
              <a:srgbClr val="4A92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42646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access-list extended VLAN200_OUT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02336" y="158191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8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remark Allow SMB to file server (VLAN 100)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" y="173736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tcp 10.200.0.0 0.0.255.255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02336" y="189280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10.100.0.0 0.0.255.255 eq 445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02336" y="204825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8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remark Allow HTTPS to file server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2336" y="220370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tcp 10.200.0.0 0.0.255.255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2336" y="23591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10.100.0.0 0.0.255.255 eq 443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2336" y="251460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8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remark Allow internet-bound traffic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02336" y="26700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permit ip 10.200.0.0 0.0.255.255 any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02336" y="282549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8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remark Block all other internal traffic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2336" y="298094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deny ip 10.200.0.0 0.0.255.255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" y="313639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10.0.0.0 0.255.255.255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" y="3474720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ACLs defined for all 5 VLAN SVIs and validated in Cisco Packet Tracer before GNS3 full-topology test.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1115568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802.1X / RADIUS AUTHENTICATION FLOW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1389888"/>
            <a:ext cx="310896" cy="31089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02352" y="14081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associates with staff SSID (WPA3-Enterprise)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819656"/>
            <a:ext cx="310896" cy="31089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02352" y="1837944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controller initiates EAP exchange (PEAP-MSCHAPv2)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249424"/>
            <a:ext cx="310896" cy="31089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02352" y="226771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server validates credentials against LDAP directory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679192"/>
            <a:ext cx="310896" cy="31089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679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02352" y="269748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→ RADIUS returns Tunnel-Private-Group-ID (VLAN 200)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108960"/>
            <a:ext cx="310896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02352" y="312724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→ RADIUS returns Access-Reject → device denied entirely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3538728"/>
            <a:ext cx="310896" cy="310896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538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02352" y="355701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 posture check: OS patch level, AV active, firewall 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968496"/>
            <a:ext cx="310896" cy="310896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02352" y="3986784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fail → NAC overrides VLAN to 500 (Quarantine)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4398264"/>
            <a:ext cx="310896" cy="310896"/>
          </a:xfrm>
          <a:prstGeom prst="rect">
            <a:avLst/>
          </a:prstGeom>
          <a:solidFill>
            <a:srgbClr val="4A8DB5"/>
          </a:solidFill>
          <a:ln w="12700">
            <a:solidFill>
              <a:srgbClr val="4A8D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4398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02352" y="441655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auth events (success/fail/timeout) forwarded to SIEM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Perimeter Security Analysis  |  UMaT ACSES Department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37" y="0"/>
            <a:ext cx="3291840" cy="51435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2249424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80944"/>
            <a:ext cx="182880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0352" y="296265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security controls of any kind exist today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346704"/>
            <a:ext cx="182880" cy="182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0352" y="332841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failure blocks CCTV;  must be fixed first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712464"/>
            <a:ext cx="182880" cy="1828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30352" y="369417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open Wi-Fi networks; signal at −62 dBm in car park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78224"/>
            <a:ext cx="182880" cy="1828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30352" y="405993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5-VLAN + 802.1X + NAC + WIPS = real-world hardening</a:t>
            </a:r>
            <a:endParaRPr lang="en-US" sz="9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443984"/>
            <a:ext cx="182880" cy="18288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30352" y="442569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delivery: WPA3 now → controller → NAC/SIEM</a:t>
            </a:r>
            <a:endParaRPr lang="en-US" sz="950" dirty="0"/>
          </a:p>
        </p:txBody>
      </p:sp>
      <p:sp>
        <p:nvSpPr>
          <p:cNvPr id="16" name="Text 8"/>
          <p:cNvSpPr/>
          <p:nvPr/>
        </p:nvSpPr>
        <p:spPr>
          <a:xfrm>
            <a:off x="3493008" y="457200"/>
            <a:ext cx="5340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17" name="Text 9"/>
          <p:cNvSpPr/>
          <p:nvPr/>
        </p:nvSpPr>
        <p:spPr>
          <a:xfrm>
            <a:off x="3493008" y="1078992"/>
            <a:ext cx="53400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has assessed the ACSES Department building across five critical security domains. The department currently operates with zero formal security infrastructure;  no access control, no surveillance, no wireless protection, and no procedural safeguards.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layered strategy proposed here;  from emergency lighting and WPA3 to 802.1X/RADIUS, NAC, WIPS, and SIEM;  forms a coherent, proportionate, and implementable response. Each layer is grounded in real-world tooling (FreeRADIUS, PacketFence, Kismet, Wazuh) and validated in GNS3 / Cisco Packet Tracer before physical deployment.</a:t>
            </a:r>
            <a:endParaRPr lang="en-US" sz="1100" dirty="0"/>
          </a:p>
        </p:txBody>
      </p:sp>
      <p:sp>
        <p:nvSpPr>
          <p:cNvPr id="18" name="Shape 10"/>
          <p:cNvSpPr/>
          <p:nvPr/>
        </p:nvSpPr>
        <p:spPr>
          <a:xfrm>
            <a:off x="3493008" y="3218688"/>
            <a:ext cx="5340096" cy="1353312"/>
          </a:xfrm>
          <a:prstGeom prst="rect">
            <a:avLst/>
          </a:prstGeom>
          <a:solidFill>
            <a:srgbClr val="2C6E49"/>
          </a:solidFill>
          <a:ln w="12700">
            <a:solidFill>
              <a:srgbClr val="4A9263"/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3493008" y="3218688"/>
            <a:ext cx="64008" cy="1353312"/>
          </a:xfrm>
          <a:prstGeom prst="rect">
            <a:avLst/>
          </a:prstGeom>
          <a:solidFill>
            <a:srgbClr val="A8C5A0"/>
          </a:solidFill>
          <a:ln w="12700">
            <a:solidFill>
              <a:srgbClr val="A8C5A0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3675888" y="32735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 PRIORITIES</a:t>
            </a:r>
            <a:endParaRPr lang="en-US" sz="9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3584448"/>
            <a:ext cx="164592" cy="16459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913632" y="3566160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1;  Restore all building lighting (ground floor: 1/18 functional)</a:t>
            </a:r>
            <a:endParaRPr lang="en-US" sz="10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3840480"/>
            <a:ext cx="164592" cy="16459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913632" y="3822192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2;  Decommission open networks; enforce WPA3 across all APs</a:t>
            </a:r>
            <a:endParaRPr lang="en-US" sz="10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4096512"/>
            <a:ext cx="164592" cy="16459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3913632" y="4078224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3;  Deploy CCTV, keycard access, and visitor registration</a:t>
            </a:r>
            <a:endParaRPr lang="en-US" sz="10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4352544"/>
            <a:ext cx="164592" cy="16459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3913632" y="4334256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4;  RADIUS, NAC, WIPS, SIEM;  full wireless &amp; network hardening</a:t>
            </a:r>
            <a:endParaRPr lang="en-US" sz="1000" dirty="0"/>
          </a:p>
        </p:txBody>
      </p:sp>
      <p:sp>
        <p:nvSpPr>
          <p:cNvPr id="2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0" name="Text 18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CONFIDENTIAL;  FOR ACADEMIC USE ONLY  |  UMaT Enterprise Security Analysis</a:t>
            </a:r>
            <a:endParaRPr lang="en-US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BCD6EA7-5C51-4F6A-99AB-872F09A64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018" y="133418"/>
            <a:ext cx="1822956" cy="21267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2738</Words>
  <Application>Microsoft Office PowerPoint</Application>
  <PresentationFormat>On-screen Show (16:9)</PresentationFormat>
  <Paragraphs>413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&amp; Perimeter Security Analysis</dc:title>
  <dc:subject>PptxGenJS Presentation</dc:subject>
  <dc:creator>Enoch</dc:creator>
  <cp:lastModifiedBy>ENOCH ODURO</cp:lastModifiedBy>
  <cp:revision>4</cp:revision>
  <dcterms:created xsi:type="dcterms:W3CDTF">2026-03-17T02:27:43Z</dcterms:created>
  <dcterms:modified xsi:type="dcterms:W3CDTF">2026-03-24T17:43:24Z</dcterms:modified>
</cp:coreProperties>
</file>